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3333333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stweave-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00000">
              <a:alpha val="32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80000" y="490000"/>
            <a:ext cx="4650000" cy="46500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620000" y="1340000"/>
            <a:ext cx="66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5600" b="1">
                <a:solidFill>
                  <a:srgbClr val="FFFFFF"/>
                </a:solidFill>
                <a:latin typeface="Aptos"/>
              </a:rPr>
              <a:t>TestWeave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0000" y="2150000"/>
            <a:ext cx="64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8D7E6"/>
                </a:solidFill>
                <a:latin typeface="Aptos"/>
              </a:rPr>
              <a:t>Weave. Validate. Deliver.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0000" y="3030000"/>
            <a:ext cx="6400000" cy="9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>
                <a:solidFill>
                  <a:srgbClr val="B9C6E8"/>
                </a:solidFill>
                <a:latin typeface="Aptos"/>
              </a:rPr>
              <a:t>A unified desktop validation workbench for API, JSON, DB, performance, and web test flows.</a:t>
            </a:r>
          </a:p>
        </p:txBody>
      </p:sp>
      <p:sp>
        <p:nvSpPr>
          <p:cNvPr id="7" name="Shape 7"/>
          <p:cNvSpPr/>
          <p:nvPr/>
        </p:nvSpPr>
        <p:spPr>
          <a:xfrm>
            <a:off x="660000" y="4570000"/>
            <a:ext cx="1350000" cy="72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2020000" y="4570000"/>
            <a:ext cx="1350000" cy="72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380000" y="4570000"/>
            <a:ext cx="1350000" cy="72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50000" y="50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>
                <a:solidFill>
                  <a:srgbClr val="FFFFFF"/>
                </a:solidFill>
                <a:latin typeface="Aptos"/>
              </a:rPr>
              <a:t>Product Feature Overview &amp; Future Roadmap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The Problem TestWeave Solves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Validation work is scattered across tools, logs, scripts, and browser sessions.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02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620000" y="1550000"/>
            <a:ext cx="375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Today’s Friction</a:t>
            </a:r>
          </a:p>
        </p:txBody>
      </p:sp>
      <p:sp>
        <p:nvSpPr>
          <p:cNvPr id="120" name="Shape 120"/>
          <p:cNvSpPr/>
          <p:nvPr/>
        </p:nvSpPr>
        <p:spPr>
          <a:xfrm>
            <a:off x="620000" y="211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795000" y="205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API checks live separately from DB checks</a:t>
            </a:r>
          </a:p>
        </p:txBody>
      </p:sp>
      <p:sp>
        <p:nvSpPr>
          <p:cNvPr id="121" name="Shape 121"/>
          <p:cNvSpPr/>
          <p:nvPr/>
        </p:nvSpPr>
        <p:spPr>
          <a:xfrm>
            <a:off x="620000" y="263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795000" y="257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UI flows are hard to record after login or MFA</a:t>
            </a:r>
          </a:p>
        </p:txBody>
      </p:sp>
      <p:sp>
        <p:nvSpPr>
          <p:cNvPr id="122" name="Shape 122"/>
          <p:cNvSpPr/>
          <p:nvPr/>
        </p:nvSpPr>
        <p:spPr>
          <a:xfrm>
            <a:off x="620000" y="315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795000" y="309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Performance evidence is not tied to functional validation</a:t>
            </a:r>
          </a:p>
        </p:txBody>
      </p:sp>
      <p:sp>
        <p:nvSpPr>
          <p:cNvPr id="123" name="Shape 123"/>
          <p:cNvSpPr/>
          <p:nvPr/>
        </p:nvSpPr>
        <p:spPr>
          <a:xfrm>
            <a:off x="620000" y="367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795000" y="361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Reusable values are copied manually across tools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4800000" y="1550000"/>
            <a:ext cx="375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TestWeave Response</a:t>
            </a:r>
          </a:p>
        </p:txBody>
      </p:sp>
      <p:sp>
        <p:nvSpPr>
          <p:cNvPr id="140" name="Shape 140"/>
          <p:cNvSpPr/>
          <p:nvPr/>
        </p:nvSpPr>
        <p:spPr>
          <a:xfrm>
            <a:off x="4800000" y="211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Text 240"/>
          <p:cNvSpPr txBox="1"/>
          <p:nvPr/>
        </p:nvSpPr>
        <p:spPr>
          <a:xfrm>
            <a:off x="4975000" y="205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One workbench for API, DB, UI, JSON, and load tests</a:t>
            </a:r>
          </a:p>
        </p:txBody>
      </p:sp>
      <p:sp>
        <p:nvSpPr>
          <p:cNvPr id="141" name="Shape 141"/>
          <p:cNvSpPr/>
          <p:nvPr/>
        </p:nvSpPr>
        <p:spPr>
          <a:xfrm>
            <a:off x="4800000" y="263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Text 241"/>
          <p:cNvSpPr txBox="1"/>
          <p:nvPr/>
        </p:nvSpPr>
        <p:spPr>
          <a:xfrm>
            <a:off x="4975000" y="257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Capture variables once and reuse everywhere</a:t>
            </a:r>
          </a:p>
        </p:txBody>
      </p:sp>
      <p:sp>
        <p:nvSpPr>
          <p:cNvPr id="142" name="Shape 142"/>
          <p:cNvSpPr/>
          <p:nvPr/>
        </p:nvSpPr>
        <p:spPr>
          <a:xfrm>
            <a:off x="4800000" y="315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Text 242"/>
          <p:cNvSpPr txBox="1"/>
          <p:nvPr/>
        </p:nvSpPr>
        <p:spPr>
          <a:xfrm>
            <a:off x="4975000" y="309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Record web flows from fresh or active browsers</a:t>
            </a:r>
          </a:p>
        </p:txBody>
      </p:sp>
      <p:sp>
        <p:nvSpPr>
          <p:cNvPr id="143" name="Shape 143"/>
          <p:cNvSpPr/>
          <p:nvPr/>
        </p:nvSpPr>
        <p:spPr>
          <a:xfrm>
            <a:off x="4800000" y="367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Text 243"/>
          <p:cNvSpPr txBox="1"/>
          <p:nvPr/>
        </p:nvSpPr>
        <p:spPr>
          <a:xfrm>
            <a:off x="4975000" y="361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Store validation evidence for release decisions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8980000" y="1550000"/>
            <a:ext cx="375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8D7E6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8D7E6"/>
                </a:solidFill>
                <a:latin typeface="Aptos"/>
              </a:rPr>
              <a:t>Outcome</a:t>
            </a:r>
          </a:p>
        </p:txBody>
      </p:sp>
      <p:sp>
        <p:nvSpPr>
          <p:cNvPr id="160" name="Shape 160"/>
          <p:cNvSpPr/>
          <p:nvPr/>
        </p:nvSpPr>
        <p:spPr>
          <a:xfrm>
            <a:off x="8980000" y="211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Text 260"/>
          <p:cNvSpPr txBox="1"/>
          <p:nvPr/>
        </p:nvSpPr>
        <p:spPr>
          <a:xfrm>
            <a:off x="9155000" y="205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Less tool switching</a:t>
            </a:r>
          </a:p>
        </p:txBody>
      </p:sp>
      <p:sp>
        <p:nvSpPr>
          <p:cNvPr id="161" name="Shape 161"/>
          <p:cNvSpPr/>
          <p:nvPr/>
        </p:nvSpPr>
        <p:spPr>
          <a:xfrm>
            <a:off x="8980000" y="263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Text 261"/>
          <p:cNvSpPr txBox="1"/>
          <p:nvPr/>
        </p:nvSpPr>
        <p:spPr>
          <a:xfrm>
            <a:off x="9155000" y="257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Faster root-cause isolation</a:t>
            </a:r>
          </a:p>
        </p:txBody>
      </p:sp>
      <p:sp>
        <p:nvSpPr>
          <p:cNvPr id="162" name="Shape 162"/>
          <p:cNvSpPr/>
          <p:nvPr/>
        </p:nvSpPr>
        <p:spPr>
          <a:xfrm>
            <a:off x="8980000" y="315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Text 262"/>
          <p:cNvSpPr txBox="1"/>
          <p:nvPr/>
        </p:nvSpPr>
        <p:spPr>
          <a:xfrm>
            <a:off x="9155000" y="309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Repeatable regression packs</a:t>
            </a:r>
          </a:p>
        </p:txBody>
      </p:sp>
      <p:sp>
        <p:nvSpPr>
          <p:cNvPr id="163" name="Shape 163"/>
          <p:cNvSpPr/>
          <p:nvPr/>
        </p:nvSpPr>
        <p:spPr>
          <a:xfrm>
            <a:off x="8980000" y="367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Text 263"/>
          <p:cNvSpPr txBox="1"/>
          <p:nvPr/>
        </p:nvSpPr>
        <p:spPr>
          <a:xfrm>
            <a:off x="9155000" y="3610000"/>
            <a:ext cx="357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Stronger confidence before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Current Feature Landscape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A single workspace for the validations teams already perform every day.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03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720000" y="1500000"/>
            <a:ext cx="36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API &amp; JSON</a:t>
            </a:r>
          </a:p>
        </p:txBody>
      </p:sp>
      <p:sp>
        <p:nvSpPr>
          <p:cNvPr id="120" name="Shape 120"/>
          <p:cNvSpPr/>
          <p:nvPr/>
        </p:nvSpPr>
        <p:spPr>
          <a:xfrm>
            <a:off x="720000" y="206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895000" y="200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REST calls with headers, token auth, and payload editing</a:t>
            </a:r>
          </a:p>
        </p:txBody>
      </p:sp>
      <p:sp>
        <p:nvSpPr>
          <p:cNvPr id="121" name="Shape 121"/>
          <p:cNvSpPr/>
          <p:nvPr/>
        </p:nvSpPr>
        <p:spPr>
          <a:xfrm>
            <a:off x="720000" y="258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895000" y="252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Pretty/raw response inspection</a:t>
            </a:r>
          </a:p>
        </p:txBody>
      </p:sp>
      <p:sp>
        <p:nvSpPr>
          <p:cNvPr id="122" name="Shape 122"/>
          <p:cNvSpPr/>
          <p:nvPr/>
        </p:nvSpPr>
        <p:spPr>
          <a:xfrm>
            <a:off x="720000" y="310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895000" y="304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Strict or lenient JSON comparisons</a:t>
            </a:r>
          </a:p>
        </p:txBody>
      </p:sp>
      <p:sp>
        <p:nvSpPr>
          <p:cNvPr id="123" name="Shape 123"/>
          <p:cNvSpPr/>
          <p:nvPr/>
        </p:nvSpPr>
        <p:spPr>
          <a:xfrm>
            <a:off x="720000" y="362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895000" y="356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Response variable capture from JSON paths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860000" y="1500000"/>
            <a:ext cx="36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DB &amp; Performance</a:t>
            </a:r>
          </a:p>
        </p:txBody>
      </p:sp>
      <p:sp>
        <p:nvSpPr>
          <p:cNvPr id="150" name="Shape 150"/>
          <p:cNvSpPr/>
          <p:nvPr/>
        </p:nvSpPr>
        <p:spPr>
          <a:xfrm>
            <a:off x="4860000" y="206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 250"/>
          <p:cNvSpPr txBox="1"/>
          <p:nvPr/>
        </p:nvSpPr>
        <p:spPr>
          <a:xfrm>
            <a:off x="5035000" y="200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JDBC connection profiles</a:t>
            </a:r>
          </a:p>
        </p:txBody>
      </p:sp>
      <p:sp>
        <p:nvSpPr>
          <p:cNvPr id="151" name="Shape 151"/>
          <p:cNvSpPr/>
          <p:nvPr/>
        </p:nvSpPr>
        <p:spPr>
          <a:xfrm>
            <a:off x="4860000" y="258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Text 251"/>
          <p:cNvSpPr txBox="1"/>
          <p:nvPr/>
        </p:nvSpPr>
        <p:spPr>
          <a:xfrm>
            <a:off x="5035000" y="252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Parameterized SQL with saved variables</a:t>
            </a:r>
          </a:p>
        </p:txBody>
      </p:sp>
      <p:sp>
        <p:nvSpPr>
          <p:cNvPr id="152" name="Shape 152"/>
          <p:cNvSpPr/>
          <p:nvPr/>
        </p:nvSpPr>
        <p:spPr>
          <a:xfrm>
            <a:off x="4860000" y="310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 252"/>
          <p:cNvSpPr txBox="1"/>
          <p:nvPr/>
        </p:nvSpPr>
        <p:spPr>
          <a:xfrm>
            <a:off x="5035000" y="304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Resultset preview and DB-to-API validation</a:t>
            </a:r>
          </a:p>
        </p:txBody>
      </p:sp>
      <p:sp>
        <p:nvSpPr>
          <p:cNvPr id="153" name="Shape 153"/>
          <p:cNvSpPr/>
          <p:nvPr/>
        </p:nvSpPr>
        <p:spPr>
          <a:xfrm>
            <a:off x="4860000" y="362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ext 253"/>
          <p:cNvSpPr txBox="1"/>
          <p:nvPr/>
        </p:nvSpPr>
        <p:spPr>
          <a:xfrm>
            <a:off x="5035000" y="356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Load-test metrics and report access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9000000" y="1500000"/>
            <a:ext cx="36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8D7E6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8D7E6"/>
                </a:solidFill>
                <a:latin typeface="Aptos"/>
              </a:rPr>
              <a:t>Web Testing</a:t>
            </a:r>
          </a:p>
        </p:txBody>
      </p:sp>
      <p:sp>
        <p:nvSpPr>
          <p:cNvPr id="180" name="Shape 180"/>
          <p:cNvSpPr/>
          <p:nvPr/>
        </p:nvSpPr>
        <p:spPr>
          <a:xfrm>
            <a:off x="9000000" y="206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 280"/>
          <p:cNvSpPr txBox="1"/>
          <p:nvPr/>
        </p:nvSpPr>
        <p:spPr>
          <a:xfrm>
            <a:off x="9175000" y="200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Browser-side step recorder</a:t>
            </a:r>
          </a:p>
        </p:txBody>
      </p:sp>
      <p:sp>
        <p:nvSpPr>
          <p:cNvPr id="181" name="Shape 181"/>
          <p:cNvSpPr/>
          <p:nvPr/>
        </p:nvSpPr>
        <p:spPr>
          <a:xfrm>
            <a:off x="9000000" y="258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 281"/>
          <p:cNvSpPr txBox="1"/>
          <p:nvPr/>
        </p:nvSpPr>
        <p:spPr>
          <a:xfrm>
            <a:off x="9175000" y="252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Attach to debug Chrome for complex flows</a:t>
            </a:r>
          </a:p>
        </p:txBody>
      </p:sp>
      <p:sp>
        <p:nvSpPr>
          <p:cNvPr id="182" name="Shape 182"/>
          <p:cNvSpPr/>
          <p:nvPr/>
        </p:nvSpPr>
        <p:spPr>
          <a:xfrm>
            <a:off x="9000000" y="310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 282"/>
          <p:cNvSpPr txBox="1"/>
          <p:nvPr/>
        </p:nvSpPr>
        <p:spPr>
          <a:xfrm>
            <a:off x="9175000" y="304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Replay captured actions and assertions</a:t>
            </a:r>
          </a:p>
        </p:txBody>
      </p:sp>
      <p:sp>
        <p:nvSpPr>
          <p:cNvPr id="183" name="Shape 183"/>
          <p:cNvSpPr/>
          <p:nvPr/>
        </p:nvSpPr>
        <p:spPr>
          <a:xfrm>
            <a:off x="9000000" y="362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ext 283"/>
          <p:cNvSpPr txBox="1"/>
          <p:nvPr/>
        </p:nvSpPr>
        <p:spPr>
          <a:xfrm>
            <a:off x="9175000" y="3560000"/>
            <a:ext cx="34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Screenshot and validation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API Validation &amp; Variable Capture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Turn one successful API call into reusable test data.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04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700000" y="1550000"/>
            <a:ext cx="5560000" cy="435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3000">
            <a:solidFill>
              <a:srgbClr val="1B7DFF">
                <a:alpha val="70000"/>
              </a:srgbClr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40000" y="19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1B7DFF"/>
                </a:solidFill>
                <a:latin typeface="Aptos"/>
              </a:rPr>
              <a:t>Request Builder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40000" y="2550000"/>
            <a:ext cx="485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>
                <a:solidFill>
                  <a:srgbClr val="FFFFFF"/>
                </a:solidFill>
                <a:latin typeface="Aptos"/>
              </a:rPr>
              <a:t>Configure method, endpoint, auth, headers, and body in one compact panel. Send the request and inspect status, latency, size, headers, cookies, and formatted response payload.</a:t>
            </a:r>
          </a:p>
        </p:txBody>
      </p:sp>
      <p:sp>
        <p:nvSpPr>
          <p:cNvPr id="30" name="Shape 30"/>
          <p:cNvSpPr/>
          <p:nvPr/>
        </p:nvSpPr>
        <p:spPr>
          <a:xfrm>
            <a:off x="7050000" y="1550000"/>
            <a:ext cx="5560000" cy="435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3000">
            <a:solidFill>
              <a:srgbClr val="18D7E6">
                <a:alpha val="70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7390000" y="19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18D7E6"/>
                </a:solidFill>
                <a:latin typeface="Aptos"/>
              </a:rPr>
              <a:t>Variables That Travel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390000" y="2550000"/>
            <a:ext cx="485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>
                <a:solidFill>
                  <a:srgbClr val="FFFFFF"/>
                </a:solidFill>
                <a:latin typeface="Aptos"/>
              </a:rPr>
              <a:t>Capture JSON fields as named variables and reuse them in API URLs, request bodies, DB SQL, web steps, and performance tests. This creates a living chain across validations.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DB Validator: From Query to Evidence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Validate API truth against database state without leaving the tool.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05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700000" y="1500000"/>
            <a:ext cx="39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Connection &amp; Query</a:t>
            </a:r>
          </a:p>
        </p:txBody>
      </p:sp>
      <p:sp>
        <p:nvSpPr>
          <p:cNvPr id="120" name="Shape 120"/>
          <p:cNvSpPr/>
          <p:nvPr/>
        </p:nvSpPr>
        <p:spPr>
          <a:xfrm>
            <a:off x="700000" y="206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875000" y="200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Save and load JDBC connection profiles</a:t>
            </a:r>
          </a:p>
        </p:txBody>
      </p:sp>
      <p:sp>
        <p:nvSpPr>
          <p:cNvPr id="121" name="Shape 121"/>
          <p:cNvSpPr/>
          <p:nvPr/>
        </p:nvSpPr>
        <p:spPr>
          <a:xfrm>
            <a:off x="700000" y="258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875000" y="252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Insert variables directly into SQL templates</a:t>
            </a:r>
          </a:p>
        </p:txBody>
      </p:sp>
      <p:sp>
        <p:nvSpPr>
          <p:cNvPr id="122" name="Shape 122"/>
          <p:cNvSpPr/>
          <p:nvPr/>
        </p:nvSpPr>
        <p:spPr>
          <a:xfrm>
            <a:off x="700000" y="310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875000" y="304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Preview query resultsets in a table</a:t>
            </a:r>
          </a:p>
        </p:txBody>
      </p:sp>
      <p:sp>
        <p:nvSpPr>
          <p:cNvPr id="123" name="Shape 123"/>
          <p:cNvSpPr/>
          <p:nvPr/>
        </p:nvSpPr>
        <p:spPr>
          <a:xfrm>
            <a:off x="700000" y="362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875000" y="356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Load DB columns into validation rules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900000" y="1500000"/>
            <a:ext cx="39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Validation Rules</a:t>
            </a:r>
          </a:p>
        </p:txBody>
      </p:sp>
      <p:sp>
        <p:nvSpPr>
          <p:cNvPr id="150" name="Shape 150"/>
          <p:cNvSpPr/>
          <p:nvPr/>
        </p:nvSpPr>
        <p:spPr>
          <a:xfrm>
            <a:off x="4900000" y="206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 250"/>
          <p:cNvSpPr txBox="1"/>
          <p:nvPr/>
        </p:nvSpPr>
        <p:spPr>
          <a:xfrm>
            <a:off x="5075000" y="200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Compare API fields to DB columns</a:t>
            </a:r>
          </a:p>
        </p:txBody>
      </p:sp>
      <p:sp>
        <p:nvSpPr>
          <p:cNvPr id="151" name="Shape 151"/>
          <p:cNvSpPr/>
          <p:nvPr/>
        </p:nvSpPr>
        <p:spPr>
          <a:xfrm>
            <a:off x="4900000" y="258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Text 251"/>
          <p:cNvSpPr txBox="1"/>
          <p:nvPr/>
        </p:nvSpPr>
        <p:spPr>
          <a:xfrm>
            <a:off x="5075000" y="252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Support equality, contains, and ordered comparisons</a:t>
            </a:r>
          </a:p>
        </p:txBody>
      </p:sp>
      <p:sp>
        <p:nvSpPr>
          <p:cNvPr id="152" name="Shape 152"/>
          <p:cNvSpPr/>
          <p:nvPr/>
        </p:nvSpPr>
        <p:spPr>
          <a:xfrm>
            <a:off x="4900000" y="310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 252"/>
          <p:cNvSpPr txBox="1"/>
          <p:nvPr/>
        </p:nvSpPr>
        <p:spPr>
          <a:xfrm>
            <a:off x="5075000" y="304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Handle multi-row results and row-specific columns</a:t>
            </a:r>
          </a:p>
        </p:txBody>
      </p:sp>
      <p:sp>
        <p:nvSpPr>
          <p:cNvPr id="153" name="Shape 153"/>
          <p:cNvSpPr/>
          <p:nvPr/>
        </p:nvSpPr>
        <p:spPr>
          <a:xfrm>
            <a:off x="4900000" y="362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ext 253"/>
          <p:cNvSpPr txBox="1"/>
          <p:nvPr/>
        </p:nvSpPr>
        <p:spPr>
          <a:xfrm>
            <a:off x="5075000" y="3560000"/>
            <a:ext cx="37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Display pass/fail details per rule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9100000" y="1500000"/>
            <a:ext cx="33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20E6C3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20E6C3"/>
                </a:solidFill>
                <a:latin typeface="Aptos"/>
              </a:rPr>
              <a:t>Variable Export</a:t>
            </a:r>
          </a:p>
        </p:txBody>
      </p:sp>
      <p:sp>
        <p:nvSpPr>
          <p:cNvPr id="180" name="Shape 180"/>
          <p:cNvSpPr/>
          <p:nvPr/>
        </p:nvSpPr>
        <p:spPr>
          <a:xfrm>
            <a:off x="9100000" y="2060000"/>
            <a:ext cx="115000" cy="115000"/>
          </a:xfrm>
          <a:prstGeom prst="roundRect">
            <a:avLst/>
          </a:prstGeom>
          <a:solidFill>
            <a:srgbClr val="20E6C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 280"/>
          <p:cNvSpPr txBox="1"/>
          <p:nvPr/>
        </p:nvSpPr>
        <p:spPr>
          <a:xfrm>
            <a:off x="9275000" y="2000000"/>
            <a:ext cx="31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Select any resultset cell</a:t>
            </a:r>
          </a:p>
        </p:txBody>
      </p:sp>
      <p:sp>
        <p:nvSpPr>
          <p:cNvPr id="181" name="Shape 181"/>
          <p:cNvSpPr/>
          <p:nvPr/>
        </p:nvSpPr>
        <p:spPr>
          <a:xfrm>
            <a:off x="9100000" y="2580000"/>
            <a:ext cx="115000" cy="115000"/>
          </a:xfrm>
          <a:prstGeom prst="roundRect">
            <a:avLst/>
          </a:prstGeom>
          <a:solidFill>
            <a:srgbClr val="20E6C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 281"/>
          <p:cNvSpPr txBox="1"/>
          <p:nvPr/>
        </p:nvSpPr>
        <p:spPr>
          <a:xfrm>
            <a:off x="9275000" y="2520000"/>
            <a:ext cx="31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Save row/column values as variables</a:t>
            </a:r>
          </a:p>
        </p:txBody>
      </p:sp>
      <p:sp>
        <p:nvSpPr>
          <p:cNvPr id="182" name="Shape 182"/>
          <p:cNvSpPr/>
          <p:nvPr/>
        </p:nvSpPr>
        <p:spPr>
          <a:xfrm>
            <a:off x="9100000" y="3100000"/>
            <a:ext cx="115000" cy="115000"/>
          </a:xfrm>
          <a:prstGeom prst="roundRect">
            <a:avLst/>
          </a:prstGeom>
          <a:solidFill>
            <a:srgbClr val="20E6C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 282"/>
          <p:cNvSpPr txBox="1"/>
          <p:nvPr/>
        </p:nvSpPr>
        <p:spPr>
          <a:xfrm>
            <a:off x="9275000" y="3040000"/>
            <a:ext cx="31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Reuse DB values in later test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Web Testing: Complex Flow Capture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Record browser behavior from fresh sessions or already-open debug Chrome windows.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06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670000" y="1500000"/>
            <a:ext cx="3700000" cy="390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2000">
            <a:solidFill>
              <a:srgbClr val="1B7DF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000" y="1820000"/>
            <a:ext cx="3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2600" b="1">
                <a:solidFill>
                  <a:srgbClr val="1B7DFF"/>
                </a:solidFill>
                <a:latin typeface="Aptos"/>
              </a:rPr>
              <a:t>Fresh Browser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30000" y="2520000"/>
            <a:ext cx="31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50">
                <a:solidFill>
                  <a:srgbClr val="FFFFFF"/>
                </a:solidFill>
                <a:latin typeface="Aptos"/>
              </a:rPr>
              <a:t>Launch a Playwright-controlled browser and record clicks, typing, navigation, assertions, and screenshots for clean reproducible tests.</a:t>
            </a:r>
          </a:p>
        </p:txBody>
      </p:sp>
      <p:sp>
        <p:nvSpPr>
          <p:cNvPr id="30" name="Shape 30"/>
          <p:cNvSpPr/>
          <p:nvPr/>
        </p:nvSpPr>
        <p:spPr>
          <a:xfrm>
            <a:off x="4830000" y="1500000"/>
            <a:ext cx="3700000" cy="390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2000">
            <a:solidFill>
              <a:srgbClr val="8D4CF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5120000" y="1820000"/>
            <a:ext cx="3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2600" b="1">
                <a:solidFill>
                  <a:srgbClr val="8D4CFF"/>
                </a:solidFill>
                <a:latin typeface="Aptos"/>
              </a:rPr>
              <a:t>Attach Browser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90000" y="2520000"/>
            <a:ext cx="31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50">
                <a:solidFill>
                  <a:srgbClr val="FFFFFF"/>
                </a:solidFill>
                <a:latin typeface="Aptos"/>
              </a:rPr>
              <a:t>Connect to debug Chrome on port 9222 to capture flows after manual login, SSO, MFA, deep navigation, or hard-to-script setup.</a:t>
            </a:r>
          </a:p>
        </p:txBody>
      </p:sp>
      <p:sp>
        <p:nvSpPr>
          <p:cNvPr id="40" name="Shape 40"/>
          <p:cNvSpPr/>
          <p:nvPr/>
        </p:nvSpPr>
        <p:spPr>
          <a:xfrm>
            <a:off x="8990000" y="1500000"/>
            <a:ext cx="3700000" cy="390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2000">
            <a:solidFill>
              <a:srgbClr val="18D7E6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9280000" y="1820000"/>
            <a:ext cx="3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2600" b="1">
                <a:solidFill>
                  <a:srgbClr val="18D7E6"/>
                </a:solidFill>
                <a:latin typeface="Aptos"/>
              </a:rPr>
              <a:t>Smart Replay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9250000" y="2520000"/>
            <a:ext cx="31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50">
                <a:solidFill>
                  <a:srgbClr val="FFFFFF"/>
                </a:solidFill>
                <a:latin typeface="Aptos"/>
              </a:rPr>
              <a:t>Replay native dropdowns with selectOption, resolve variables in steps, and surface pass/fail evidence for each browser action.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Test Suite Runner Vision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The canvas where individual validations become orchestrated quality journeys.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07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760000" y="1520000"/>
            <a:ext cx="11820000" cy="3950000"/>
          </a:xfrm>
          <a:prstGeom prst="roundRect">
            <a:avLst/>
          </a:prstGeom>
          <a:solidFill>
            <a:srgbClr val="0A1028">
              <a:alpha val="90000"/>
            </a:srgbClr>
          </a:solidFill>
          <a:ln w="15000">
            <a:solidFill>
              <a:srgbClr val="18D7E6">
                <a:alpha val="62000"/>
              </a:srgbClr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60000" y="1900000"/>
            <a:ext cx="109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3400" b="1">
                <a:solidFill>
                  <a:srgbClr val="FFFFFF"/>
                </a:solidFill>
                <a:latin typeface="Aptos"/>
              </a:rPr>
              <a:t>Drag, connect, run, and review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500000" y="2780000"/>
            <a:ext cx="1000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2100">
                <a:solidFill>
                  <a:srgbClr val="B9C6E8"/>
                </a:solidFill>
                <a:latin typeface="Aptos"/>
              </a:rPr>
              <a:t>Future Test Suite Runner will let users arrange API, DB, web, performance, and comparison test cases on a canvas. Variables can flow from one node to another, creating clear end-to-end test stories.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00000" y="4560000"/>
            <a:ext cx="104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850" b="1">
                <a:solidFill>
                  <a:srgbClr val="18D7E6"/>
                </a:solidFill>
                <a:latin typeface="Aptos"/>
              </a:rPr>
              <a:t>API response -&gt; DB validation -&gt; UI flow -&gt; Performance check -&gt; Release evidence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Unified Dashboard: One Quality Command Center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A consolidated dashboard makes validation status visible, comparable, and actionable.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08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76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Why It Helps</a:t>
            </a:r>
          </a:p>
        </p:txBody>
      </p:sp>
      <p:sp>
        <p:nvSpPr>
          <p:cNvPr id="120" name="Shape 120"/>
          <p:cNvSpPr/>
          <p:nvPr/>
        </p:nvSpPr>
        <p:spPr>
          <a:xfrm>
            <a:off x="760000" y="206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93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Single pass/fail view across all validation types</a:t>
            </a:r>
          </a:p>
        </p:txBody>
      </p:sp>
      <p:sp>
        <p:nvSpPr>
          <p:cNvPr id="121" name="Shape 121"/>
          <p:cNvSpPr/>
          <p:nvPr/>
        </p:nvSpPr>
        <p:spPr>
          <a:xfrm>
            <a:off x="760000" y="258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93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Faster release readiness decisions</a:t>
            </a:r>
          </a:p>
        </p:txBody>
      </p:sp>
      <p:sp>
        <p:nvSpPr>
          <p:cNvPr id="122" name="Shape 122"/>
          <p:cNvSpPr/>
          <p:nvPr/>
        </p:nvSpPr>
        <p:spPr>
          <a:xfrm>
            <a:off x="760000" y="310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93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Trend visibility across builds and environments</a:t>
            </a:r>
          </a:p>
        </p:txBody>
      </p:sp>
      <p:sp>
        <p:nvSpPr>
          <p:cNvPr id="123" name="Shape 123"/>
          <p:cNvSpPr/>
          <p:nvPr/>
        </p:nvSpPr>
        <p:spPr>
          <a:xfrm>
            <a:off x="760000" y="362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93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Less manual status consolidation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82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What It Shows</a:t>
            </a:r>
          </a:p>
        </p:txBody>
      </p:sp>
      <p:sp>
        <p:nvSpPr>
          <p:cNvPr id="150" name="Shape 150"/>
          <p:cNvSpPr/>
          <p:nvPr/>
        </p:nvSpPr>
        <p:spPr>
          <a:xfrm>
            <a:off x="4820000" y="206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 250"/>
          <p:cNvSpPr txBox="1"/>
          <p:nvPr/>
        </p:nvSpPr>
        <p:spPr>
          <a:xfrm>
            <a:off x="499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API, DB, UI, JSON, and performance health</a:t>
            </a:r>
          </a:p>
        </p:txBody>
      </p:sp>
      <p:sp>
        <p:nvSpPr>
          <p:cNvPr id="151" name="Shape 151"/>
          <p:cNvSpPr/>
          <p:nvPr/>
        </p:nvSpPr>
        <p:spPr>
          <a:xfrm>
            <a:off x="4820000" y="258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Text 251"/>
          <p:cNvSpPr txBox="1"/>
          <p:nvPr/>
        </p:nvSpPr>
        <p:spPr>
          <a:xfrm>
            <a:off x="499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Flaky tests and failing components</a:t>
            </a:r>
          </a:p>
        </p:txBody>
      </p:sp>
      <p:sp>
        <p:nvSpPr>
          <p:cNvPr id="152" name="Shape 152"/>
          <p:cNvSpPr/>
          <p:nvPr/>
        </p:nvSpPr>
        <p:spPr>
          <a:xfrm>
            <a:off x="4820000" y="310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 252"/>
          <p:cNvSpPr txBox="1"/>
          <p:nvPr/>
        </p:nvSpPr>
        <p:spPr>
          <a:xfrm>
            <a:off x="499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Latest evidence, screenshots, and reports</a:t>
            </a:r>
          </a:p>
        </p:txBody>
      </p:sp>
      <p:sp>
        <p:nvSpPr>
          <p:cNvPr id="153" name="Shape 153"/>
          <p:cNvSpPr/>
          <p:nvPr/>
        </p:nvSpPr>
        <p:spPr>
          <a:xfrm>
            <a:off x="4820000" y="362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ext 253"/>
          <p:cNvSpPr txBox="1"/>
          <p:nvPr/>
        </p:nvSpPr>
        <p:spPr>
          <a:xfrm>
            <a:off x="499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Environment-wise validation history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88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8D7E6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8D7E6"/>
                </a:solidFill>
                <a:latin typeface="Aptos"/>
              </a:rPr>
              <a:t>Business Value</a:t>
            </a:r>
          </a:p>
        </p:txBody>
      </p:sp>
      <p:sp>
        <p:nvSpPr>
          <p:cNvPr id="180" name="Shape 180"/>
          <p:cNvSpPr/>
          <p:nvPr/>
        </p:nvSpPr>
        <p:spPr>
          <a:xfrm>
            <a:off x="8880000" y="206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 280"/>
          <p:cNvSpPr txBox="1"/>
          <p:nvPr/>
        </p:nvSpPr>
        <p:spPr>
          <a:xfrm>
            <a:off x="905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Shared QA and dev understanding</a:t>
            </a:r>
          </a:p>
        </p:txBody>
      </p:sp>
      <p:sp>
        <p:nvSpPr>
          <p:cNvPr id="181" name="Shape 181"/>
          <p:cNvSpPr/>
          <p:nvPr/>
        </p:nvSpPr>
        <p:spPr>
          <a:xfrm>
            <a:off x="8880000" y="258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 281"/>
          <p:cNvSpPr txBox="1"/>
          <p:nvPr/>
        </p:nvSpPr>
        <p:spPr>
          <a:xfrm>
            <a:off x="905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Clear audit trail for releases</a:t>
            </a:r>
          </a:p>
        </p:txBody>
      </p:sp>
      <p:sp>
        <p:nvSpPr>
          <p:cNvPr id="182" name="Shape 182"/>
          <p:cNvSpPr/>
          <p:nvPr/>
        </p:nvSpPr>
        <p:spPr>
          <a:xfrm>
            <a:off x="8880000" y="310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 282"/>
          <p:cNvSpPr txBox="1"/>
          <p:nvPr/>
        </p:nvSpPr>
        <p:spPr>
          <a:xfrm>
            <a:off x="905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Earlier defect discovery</a:t>
            </a:r>
          </a:p>
        </p:txBody>
      </p:sp>
      <p:sp>
        <p:nvSpPr>
          <p:cNvPr id="183" name="Shape 183"/>
          <p:cNvSpPr/>
          <p:nvPr/>
        </p:nvSpPr>
        <p:spPr>
          <a:xfrm>
            <a:off x="8880000" y="362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ext 283"/>
          <p:cNvSpPr txBox="1"/>
          <p:nvPr/>
        </p:nvSpPr>
        <p:spPr>
          <a:xfrm>
            <a:off x="905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Better prioritization of fixes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n8n + Jira Integration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Automation can turn failed validations into trackable engineering work.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09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700000" y="1520000"/>
            <a:ext cx="11900000" cy="4450000"/>
          </a:xfrm>
          <a:prstGeom prst="roundRect">
            <a:avLst/>
          </a:prstGeom>
          <a:solidFill>
            <a:srgbClr val="0A1028">
              <a:alpha val="92000"/>
            </a:srgbClr>
          </a:solidFill>
          <a:ln w="15000">
            <a:solidFill>
              <a:srgbClr val="8D4CF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30000" y="188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8D4CFF"/>
                </a:solidFill>
                <a:latin typeface="Aptos"/>
              </a:rPr>
              <a:t>How the workflow can operate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50000" y="2580000"/>
            <a:ext cx="10750000" cy="20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FFFFFF"/>
                </a:solidFill>
                <a:latin typeface="Aptos"/>
              </a:rPr>
              <a:t>1. TestWeave completes a validation run and exports structured results.</a:t>
            </a:r>
          </a:p>
          <a:p>
            <a:pPr algn="l"/>
            <a:r>
              <a:rPr lang="en-US" sz="1700">
                <a:solidFill>
                  <a:srgbClr val="FFFFFF"/>
                </a:solidFill>
                <a:latin typeface="Aptos"/>
              </a:rPr>
              <a:t>2. n8n watches the output, webhook, or scheduled report location.</a:t>
            </a:r>
          </a:p>
          <a:p>
            <a:pPr algn="l"/>
            <a:r>
              <a:rPr lang="en-US" sz="1700">
                <a:solidFill>
                  <a:srgbClr val="FFFFFF"/>
                </a:solidFill>
                <a:latin typeface="Aptos"/>
              </a:rPr>
              <a:t>3. Failed critical validations create or update Jira issues with logs, payloads, screenshots, SQL evidence, and environment tags.</a:t>
            </a:r>
          </a:p>
          <a:p>
            <a:pPr algn="l"/>
            <a:r>
              <a:rPr lang="en-US" sz="1700">
                <a:solidFill>
                  <a:srgbClr val="FFFFFF"/>
                </a:solidFill>
                <a:latin typeface="Aptos"/>
              </a:rPr>
              <a:t>4. Jira status can flow back into a dashboard so teams see whether failures are accepted, in progress, or fixed.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050000" y="5000000"/>
            <a:ext cx="107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900" b="1">
                <a:solidFill>
                  <a:srgbClr val="18D7E6"/>
                </a:solidFill>
                <a:latin typeface="Aptos"/>
              </a:rPr>
              <a:t>Result: fewer missed defects, cleaner handoff, and a tighter validation-to-remediation loop.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Swing to JavaFX: UI Evolution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JavaFX can help TestWeave feel more modern, visual, and workflow-oriented.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10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76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Why Move</a:t>
            </a:r>
          </a:p>
        </p:txBody>
      </p:sp>
      <p:sp>
        <p:nvSpPr>
          <p:cNvPr id="120" name="Shape 120"/>
          <p:cNvSpPr/>
          <p:nvPr/>
        </p:nvSpPr>
        <p:spPr>
          <a:xfrm>
            <a:off x="760000" y="206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93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Cleaner layouts and responsive controls</a:t>
            </a:r>
          </a:p>
        </p:txBody>
      </p:sp>
      <p:sp>
        <p:nvSpPr>
          <p:cNvPr id="121" name="Shape 121"/>
          <p:cNvSpPr/>
          <p:nvPr/>
        </p:nvSpPr>
        <p:spPr>
          <a:xfrm>
            <a:off x="760000" y="258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93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Modern styling with CSS</a:t>
            </a:r>
          </a:p>
        </p:txBody>
      </p:sp>
      <p:sp>
        <p:nvSpPr>
          <p:cNvPr id="122" name="Shape 122"/>
          <p:cNvSpPr/>
          <p:nvPr/>
        </p:nvSpPr>
        <p:spPr>
          <a:xfrm>
            <a:off x="760000" y="310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93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Better charts, dashboards, and canvas interactions</a:t>
            </a:r>
          </a:p>
        </p:txBody>
      </p:sp>
      <p:sp>
        <p:nvSpPr>
          <p:cNvPr id="123" name="Shape 123"/>
          <p:cNvSpPr/>
          <p:nvPr/>
        </p:nvSpPr>
        <p:spPr>
          <a:xfrm>
            <a:off x="760000" y="362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93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Smoother future UX for suite orchestration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82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Migration Approach</a:t>
            </a:r>
          </a:p>
        </p:txBody>
      </p:sp>
      <p:sp>
        <p:nvSpPr>
          <p:cNvPr id="150" name="Shape 150"/>
          <p:cNvSpPr/>
          <p:nvPr/>
        </p:nvSpPr>
        <p:spPr>
          <a:xfrm>
            <a:off x="4820000" y="206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 250"/>
          <p:cNvSpPr txBox="1"/>
          <p:nvPr/>
        </p:nvSpPr>
        <p:spPr>
          <a:xfrm>
            <a:off x="499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Keep services and models reusable</a:t>
            </a:r>
          </a:p>
        </p:txBody>
      </p:sp>
      <p:sp>
        <p:nvSpPr>
          <p:cNvPr id="151" name="Shape 151"/>
          <p:cNvSpPr/>
          <p:nvPr/>
        </p:nvSpPr>
        <p:spPr>
          <a:xfrm>
            <a:off x="4820000" y="258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Text 251"/>
          <p:cNvSpPr txBox="1"/>
          <p:nvPr/>
        </p:nvSpPr>
        <p:spPr>
          <a:xfrm>
            <a:off x="499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Move screen-by-screen instead of rewriting all logic</a:t>
            </a:r>
          </a:p>
        </p:txBody>
      </p:sp>
      <p:sp>
        <p:nvSpPr>
          <p:cNvPr id="152" name="Shape 152"/>
          <p:cNvSpPr/>
          <p:nvPr/>
        </p:nvSpPr>
        <p:spPr>
          <a:xfrm>
            <a:off x="4820000" y="310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 252"/>
          <p:cNvSpPr txBox="1"/>
          <p:nvPr/>
        </p:nvSpPr>
        <p:spPr>
          <a:xfrm>
            <a:off x="499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Start with dashboard and Test Suite Runner</a:t>
            </a:r>
          </a:p>
        </p:txBody>
      </p:sp>
      <p:sp>
        <p:nvSpPr>
          <p:cNvPr id="153" name="Shape 153"/>
          <p:cNvSpPr/>
          <p:nvPr/>
        </p:nvSpPr>
        <p:spPr>
          <a:xfrm>
            <a:off x="4820000" y="362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ext 253"/>
          <p:cNvSpPr txBox="1"/>
          <p:nvPr/>
        </p:nvSpPr>
        <p:spPr>
          <a:xfrm>
            <a:off x="499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Retain existing Swing features during transition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88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8D7E6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8D7E6"/>
                </a:solidFill>
                <a:latin typeface="Aptos"/>
              </a:rPr>
              <a:t>UX Gains</a:t>
            </a:r>
          </a:p>
        </p:txBody>
      </p:sp>
      <p:sp>
        <p:nvSpPr>
          <p:cNvPr id="180" name="Shape 180"/>
          <p:cNvSpPr/>
          <p:nvPr/>
        </p:nvSpPr>
        <p:spPr>
          <a:xfrm>
            <a:off x="8880000" y="206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 280"/>
          <p:cNvSpPr txBox="1"/>
          <p:nvPr/>
        </p:nvSpPr>
        <p:spPr>
          <a:xfrm>
            <a:off x="905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Drag/drop suite canvas</a:t>
            </a:r>
          </a:p>
        </p:txBody>
      </p:sp>
      <p:sp>
        <p:nvSpPr>
          <p:cNvPr id="181" name="Shape 181"/>
          <p:cNvSpPr/>
          <p:nvPr/>
        </p:nvSpPr>
        <p:spPr>
          <a:xfrm>
            <a:off x="8880000" y="258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 281"/>
          <p:cNvSpPr txBox="1"/>
          <p:nvPr/>
        </p:nvSpPr>
        <p:spPr>
          <a:xfrm>
            <a:off x="905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Richer tables and filters</a:t>
            </a:r>
          </a:p>
        </p:txBody>
      </p:sp>
      <p:sp>
        <p:nvSpPr>
          <p:cNvPr id="182" name="Shape 182"/>
          <p:cNvSpPr/>
          <p:nvPr/>
        </p:nvSpPr>
        <p:spPr>
          <a:xfrm>
            <a:off x="8880000" y="310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 282"/>
          <p:cNvSpPr txBox="1"/>
          <p:nvPr/>
        </p:nvSpPr>
        <p:spPr>
          <a:xfrm>
            <a:off x="905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Interactive charts and timelines</a:t>
            </a:r>
          </a:p>
        </p:txBody>
      </p:sp>
      <p:sp>
        <p:nvSpPr>
          <p:cNvPr id="183" name="Shape 183"/>
          <p:cNvSpPr/>
          <p:nvPr/>
        </p:nvSpPr>
        <p:spPr>
          <a:xfrm>
            <a:off x="8880000" y="362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ext 283"/>
          <p:cNvSpPr txBox="1"/>
          <p:nvPr/>
        </p:nvSpPr>
        <p:spPr>
          <a:xfrm>
            <a:off x="905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More polished product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520000" y="300000"/>
            <a:ext cx="7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FFFFFF"/>
                </a:solidFill>
                <a:latin typeface="Aptos"/>
              </a:rPr>
              <a:t>Future Roadmap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0000" y="870000"/>
            <a:ext cx="8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50">
                <a:solidFill>
                  <a:srgbClr val="B9C6E8"/>
                </a:solidFill>
                <a:latin typeface="Aptos"/>
              </a:rPr>
              <a:t>A practical path from tool to validation platform.</a:t>
            </a:r>
          </a:p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11</a:t>
            </a:r>
          </a:p>
        </p:txBody>
      </p:sp>
      <p:pic>
        <p:nvPicPr>
          <p:cNvPr id="12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850000" y="230000"/>
            <a:ext cx="1260000" cy="126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76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B7D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B7DFF"/>
                </a:solidFill>
                <a:latin typeface="Aptos"/>
              </a:rPr>
              <a:t>Now</a:t>
            </a:r>
          </a:p>
        </p:txBody>
      </p:sp>
      <p:sp>
        <p:nvSpPr>
          <p:cNvPr id="120" name="Shape 120"/>
          <p:cNvSpPr/>
          <p:nvPr/>
        </p:nvSpPr>
        <p:spPr>
          <a:xfrm>
            <a:off x="760000" y="206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Text 220"/>
          <p:cNvSpPr txBox="1"/>
          <p:nvPr/>
        </p:nvSpPr>
        <p:spPr>
          <a:xfrm>
            <a:off x="93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Stabilize web recording and replay</a:t>
            </a:r>
          </a:p>
        </p:txBody>
      </p:sp>
      <p:sp>
        <p:nvSpPr>
          <p:cNvPr id="121" name="Shape 121"/>
          <p:cNvSpPr/>
          <p:nvPr/>
        </p:nvSpPr>
        <p:spPr>
          <a:xfrm>
            <a:off x="760000" y="258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 221"/>
          <p:cNvSpPr txBox="1"/>
          <p:nvPr/>
        </p:nvSpPr>
        <p:spPr>
          <a:xfrm>
            <a:off x="93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Polish DB resultset variable capture</a:t>
            </a:r>
          </a:p>
        </p:txBody>
      </p:sp>
      <p:sp>
        <p:nvSpPr>
          <p:cNvPr id="122" name="Shape 122"/>
          <p:cNvSpPr/>
          <p:nvPr/>
        </p:nvSpPr>
        <p:spPr>
          <a:xfrm>
            <a:off x="760000" y="310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 222"/>
          <p:cNvSpPr txBox="1"/>
          <p:nvPr/>
        </p:nvSpPr>
        <p:spPr>
          <a:xfrm>
            <a:off x="93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Package repeatable demo workflows</a:t>
            </a:r>
          </a:p>
        </p:txBody>
      </p:sp>
      <p:sp>
        <p:nvSpPr>
          <p:cNvPr id="123" name="Shape 123"/>
          <p:cNvSpPr/>
          <p:nvPr/>
        </p:nvSpPr>
        <p:spPr>
          <a:xfrm>
            <a:off x="760000" y="3620000"/>
            <a:ext cx="115000" cy="115000"/>
          </a:xfrm>
          <a:prstGeom prst="round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ext 223"/>
          <p:cNvSpPr txBox="1"/>
          <p:nvPr/>
        </p:nvSpPr>
        <p:spPr>
          <a:xfrm>
            <a:off x="93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Improve reporting exports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482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8D4CFF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8D4CFF"/>
                </a:solidFill>
                <a:latin typeface="Aptos"/>
              </a:rPr>
              <a:t>Next</a:t>
            </a:r>
          </a:p>
        </p:txBody>
      </p:sp>
      <p:sp>
        <p:nvSpPr>
          <p:cNvPr id="150" name="Shape 150"/>
          <p:cNvSpPr/>
          <p:nvPr/>
        </p:nvSpPr>
        <p:spPr>
          <a:xfrm>
            <a:off x="4820000" y="206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 250"/>
          <p:cNvSpPr txBox="1"/>
          <p:nvPr/>
        </p:nvSpPr>
        <p:spPr>
          <a:xfrm>
            <a:off x="499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Test Suite Runner drag/drop canvas</a:t>
            </a:r>
          </a:p>
        </p:txBody>
      </p:sp>
      <p:sp>
        <p:nvSpPr>
          <p:cNvPr id="151" name="Shape 151"/>
          <p:cNvSpPr/>
          <p:nvPr/>
        </p:nvSpPr>
        <p:spPr>
          <a:xfrm>
            <a:off x="4820000" y="258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Text 251"/>
          <p:cNvSpPr txBox="1"/>
          <p:nvPr/>
        </p:nvSpPr>
        <p:spPr>
          <a:xfrm>
            <a:off x="499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Unified dashboard MVP</a:t>
            </a:r>
          </a:p>
        </p:txBody>
      </p:sp>
      <p:sp>
        <p:nvSpPr>
          <p:cNvPr id="152" name="Shape 152"/>
          <p:cNvSpPr/>
          <p:nvPr/>
        </p:nvSpPr>
        <p:spPr>
          <a:xfrm>
            <a:off x="4820000" y="310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 252"/>
          <p:cNvSpPr txBox="1"/>
          <p:nvPr/>
        </p:nvSpPr>
        <p:spPr>
          <a:xfrm>
            <a:off x="499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n8n webhook/report integration</a:t>
            </a:r>
          </a:p>
        </p:txBody>
      </p:sp>
      <p:sp>
        <p:nvSpPr>
          <p:cNvPr id="153" name="Shape 153"/>
          <p:cNvSpPr/>
          <p:nvPr/>
        </p:nvSpPr>
        <p:spPr>
          <a:xfrm>
            <a:off x="4820000" y="3620000"/>
            <a:ext cx="115000" cy="115000"/>
          </a:xfrm>
          <a:prstGeom prst="round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ext 253"/>
          <p:cNvSpPr txBox="1"/>
          <p:nvPr/>
        </p:nvSpPr>
        <p:spPr>
          <a:xfrm>
            <a:off x="499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Jira issue automation for failures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880000" y="1500000"/>
            <a:ext cx="3700000" cy="470000"/>
          </a:xfrm>
          <a:prstGeom prst="rect">
            <a:avLst/>
          </a:prstGeom>
          <a:solidFill>
            <a:srgbClr val="101735">
              <a:alpha val="76000"/>
            </a:srgbClr>
          </a:solidFill>
          <a:ln w="9000">
            <a:solidFill>
              <a:srgbClr val="18D7E6">
                <a:alpha val="65000"/>
              </a:srgbClr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500" b="1">
                <a:solidFill>
                  <a:srgbClr val="18D7E6"/>
                </a:solidFill>
                <a:latin typeface="Aptos"/>
              </a:rPr>
              <a:t>Later</a:t>
            </a:r>
          </a:p>
        </p:txBody>
      </p:sp>
      <p:sp>
        <p:nvSpPr>
          <p:cNvPr id="180" name="Shape 180"/>
          <p:cNvSpPr/>
          <p:nvPr/>
        </p:nvSpPr>
        <p:spPr>
          <a:xfrm>
            <a:off x="8880000" y="206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 280"/>
          <p:cNvSpPr txBox="1"/>
          <p:nvPr/>
        </p:nvSpPr>
        <p:spPr>
          <a:xfrm>
            <a:off x="9055000" y="200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JavaFX migration</a:t>
            </a:r>
          </a:p>
        </p:txBody>
      </p:sp>
      <p:sp>
        <p:nvSpPr>
          <p:cNvPr id="181" name="Shape 181"/>
          <p:cNvSpPr/>
          <p:nvPr/>
        </p:nvSpPr>
        <p:spPr>
          <a:xfrm>
            <a:off x="8880000" y="258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 281"/>
          <p:cNvSpPr txBox="1"/>
          <p:nvPr/>
        </p:nvSpPr>
        <p:spPr>
          <a:xfrm>
            <a:off x="9055000" y="252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CI/CD execution mode</a:t>
            </a:r>
          </a:p>
        </p:txBody>
      </p:sp>
      <p:sp>
        <p:nvSpPr>
          <p:cNvPr id="182" name="Shape 182"/>
          <p:cNvSpPr/>
          <p:nvPr/>
        </p:nvSpPr>
        <p:spPr>
          <a:xfrm>
            <a:off x="8880000" y="310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 282"/>
          <p:cNvSpPr txBox="1"/>
          <p:nvPr/>
        </p:nvSpPr>
        <p:spPr>
          <a:xfrm>
            <a:off x="9055000" y="304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Team-shared test repositories</a:t>
            </a:r>
          </a:p>
        </p:txBody>
      </p:sp>
      <p:sp>
        <p:nvSpPr>
          <p:cNvPr id="183" name="Shape 183"/>
          <p:cNvSpPr/>
          <p:nvPr/>
        </p:nvSpPr>
        <p:spPr>
          <a:xfrm>
            <a:off x="8880000" y="3620000"/>
            <a:ext cx="115000" cy="115000"/>
          </a:xfrm>
          <a:prstGeom prst="round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ext 283"/>
          <p:cNvSpPr txBox="1"/>
          <p:nvPr/>
        </p:nvSpPr>
        <p:spPr>
          <a:xfrm>
            <a:off x="9055000" y="3560000"/>
            <a:ext cx="352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AI-assisted test generation and healing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estWeav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860000" y="780000"/>
            <a:ext cx="3400000" cy="3400000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4880000" y="125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5200" b="1">
                <a:solidFill>
                  <a:srgbClr val="FFFFFF"/>
                </a:solidFill>
                <a:latin typeface="Aptos"/>
              </a:rPr>
              <a:t>TestWeave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900000" y="2080000"/>
            <a:ext cx="75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18D7E6"/>
                </a:solidFill>
                <a:latin typeface="Aptos"/>
              </a:rPr>
              <a:t>From scattered validation tasks to one connected quality fabric.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920000" y="3120000"/>
            <a:ext cx="7200000" cy="1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100">
                <a:solidFill>
                  <a:srgbClr val="B9C6E8"/>
                </a:solidFill>
                <a:latin typeface="Aptos"/>
              </a:rPr>
              <a:t>The roadmap moves TestWeave beyond a desktop helper into a release-confidence platform: orchestrated suites, unified dashboards, automated Jira follow-up, and a modern JavaFX user experience.</a:t>
            </a:r>
          </a:p>
        </p:txBody>
      </p:sp>
      <p:sp>
        <p:nvSpPr>
          <p:cNvPr id="40" name="Shape 40"/>
          <p:cNvSpPr/>
          <p:nvPr/>
        </p:nvSpPr>
        <p:spPr>
          <a:xfrm>
            <a:off x="4940000" y="5250000"/>
            <a:ext cx="2000000" cy="72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6940000" y="5250000"/>
            <a:ext cx="2000000" cy="72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hape 42"/>
          <p:cNvSpPr/>
          <p:nvPr/>
        </p:nvSpPr>
        <p:spPr>
          <a:xfrm>
            <a:off x="8940000" y="5250000"/>
            <a:ext cx="2000000" cy="72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" name="Shape 900"/>
          <p:cNvSpPr/>
          <p:nvPr/>
        </p:nvSpPr>
        <p:spPr>
          <a:xfrm>
            <a:off x="420000" y="7150000"/>
            <a:ext cx="3100000" cy="18000"/>
          </a:xfrm>
          <a:prstGeom prst="rect">
            <a:avLst/>
          </a:prstGeom>
          <a:solidFill>
            <a:srgbClr val="1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Shape 901"/>
          <p:cNvSpPr/>
          <p:nvPr/>
        </p:nvSpPr>
        <p:spPr>
          <a:xfrm>
            <a:off x="3520000" y="7150000"/>
            <a:ext cx="2100000" cy="18000"/>
          </a:xfrm>
          <a:prstGeom prst="rect">
            <a:avLst/>
          </a:prstGeom>
          <a:solidFill>
            <a:srgbClr val="8D4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Shape 902"/>
          <p:cNvSpPr/>
          <p:nvPr/>
        </p:nvSpPr>
        <p:spPr>
          <a:xfrm>
            <a:off x="5620000" y="7150000"/>
            <a:ext cx="2900000" cy="18000"/>
          </a:xfrm>
          <a:prstGeom prst="rect">
            <a:avLst/>
          </a:prstGeom>
          <a:solidFill>
            <a:srgbClr val="18D7E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" name="Text 903"/>
          <p:cNvSpPr txBox="1"/>
          <p:nvPr/>
        </p:nvSpPr>
        <p:spPr>
          <a:xfrm>
            <a:off x="10700000" y="6930000"/>
            <a:ext cx="1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100">
                <a:solidFill>
                  <a:srgbClr val="B9C6E8"/>
                </a:solidFill>
                <a:latin typeface="Aptos"/>
              </a:rPr>
              <a:t>TestWeave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tWeave">
  <a:themeElements>
    <a:clrScheme name="TestWeave">
      <a:dk1>
        <a:srgbClr val="030817"/>
      </a:dk1>
      <a:lt1>
        <a:srgbClr val="FFFFFF"/>
      </a:lt1>
      <a:dk2>
        <a:srgbClr val="0A1028"/>
      </a:dk2>
      <a:lt2>
        <a:srgbClr val="B9C6E8"/>
      </a:lt2>
      <a:accent1>
        <a:srgbClr val="1B7DFF"/>
      </a:accent1>
      <a:accent2>
        <a:srgbClr val="8D4CFF"/>
      </a:accent2>
      <a:accent3>
        <a:srgbClr val="18D7E6"/>
      </a:accent3>
      <a:accent4>
        <a:srgbClr val="20E6C3"/>
      </a:accent4>
      <a:accent5>
        <a:srgbClr val="F3CE60"/>
      </a:accent5>
      <a:accent6>
        <a:srgbClr val="FFFFFF"/>
      </a:accent6>
      <a:hlink>
        <a:srgbClr val="18D7E6"/>
      </a:hlink>
      <a:folHlink>
        <a:srgbClr val="8D4CF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TestWeav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